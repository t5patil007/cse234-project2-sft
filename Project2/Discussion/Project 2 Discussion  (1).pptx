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4"/>
    <p:sldMasterId id="214748367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Teko SemiBold"/>
      <p:regular r:id="rId32"/>
      <p:bold r:id="rId33"/>
    </p:embeddedFont>
    <p:embeddedFont>
      <p:font typeface="Teko"/>
      <p:regular r:id="rId34"/>
      <p:bold r:id="rId35"/>
    </p:embeddedFont>
    <p:embeddedFont>
      <p:font typeface="Source Sans 3 SemiBold"/>
      <p:regular r:id="rId36"/>
      <p:bold r:id="rId37"/>
      <p:italic r:id="rId38"/>
      <p:boldItalic r:id="rId39"/>
    </p:embeddedFont>
    <p:embeddedFont>
      <p:font typeface="Source Sans 3 Medium"/>
      <p:regular r:id="rId40"/>
      <p:bold r:id="rId41"/>
      <p:italic r:id="rId42"/>
      <p:boldItalic r:id="rId43"/>
    </p:embeddedFont>
    <p:embeddedFont>
      <p:font typeface="Source Sans 3"/>
      <p:regular r:id="rId44"/>
      <p:bold r:id="rId45"/>
      <p:italic r:id="rId46"/>
      <p:boldItalic r:id="rId47"/>
    </p:embeddedFont>
    <p:embeddedFont>
      <p:font typeface="Teko Medium"/>
      <p:regular r:id="rId48"/>
      <p:bold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urceSans3Medium-regular.fntdata"/><Relationship Id="rId42" Type="http://schemas.openxmlformats.org/officeDocument/2006/relationships/font" Target="fonts/SourceSans3Medium-italic.fntdata"/><Relationship Id="rId41" Type="http://schemas.openxmlformats.org/officeDocument/2006/relationships/font" Target="fonts/SourceSans3Medium-bold.fntdata"/><Relationship Id="rId44" Type="http://schemas.openxmlformats.org/officeDocument/2006/relationships/font" Target="fonts/SourceSans3-regular.fntdata"/><Relationship Id="rId43" Type="http://schemas.openxmlformats.org/officeDocument/2006/relationships/font" Target="fonts/SourceSans3Medium-boldItalic.fntdata"/><Relationship Id="rId46" Type="http://schemas.openxmlformats.org/officeDocument/2006/relationships/font" Target="fonts/SourceSans3-italic.fntdata"/><Relationship Id="rId45" Type="http://schemas.openxmlformats.org/officeDocument/2006/relationships/font" Target="fonts/SourceSans3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TekoMedium-regular.fntdata"/><Relationship Id="rId47" Type="http://schemas.openxmlformats.org/officeDocument/2006/relationships/font" Target="fonts/SourceSans3-boldItalic.fntdata"/><Relationship Id="rId49" Type="http://schemas.openxmlformats.org/officeDocument/2006/relationships/font" Target="fonts/TekoMedium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font" Target="fonts/TekoSemiBold-bold.fntdata"/><Relationship Id="rId32" Type="http://schemas.openxmlformats.org/officeDocument/2006/relationships/font" Target="fonts/TekoSemiBold-regular.fntdata"/><Relationship Id="rId35" Type="http://schemas.openxmlformats.org/officeDocument/2006/relationships/font" Target="fonts/Teko-bold.fntdata"/><Relationship Id="rId34" Type="http://schemas.openxmlformats.org/officeDocument/2006/relationships/font" Target="fonts/Teko-regular.fntdata"/><Relationship Id="rId37" Type="http://schemas.openxmlformats.org/officeDocument/2006/relationships/font" Target="fonts/SourceSans3SemiBold-bold.fntdata"/><Relationship Id="rId36" Type="http://schemas.openxmlformats.org/officeDocument/2006/relationships/font" Target="fonts/SourceSans3SemiBold-regular.fntdata"/><Relationship Id="rId39" Type="http://schemas.openxmlformats.org/officeDocument/2006/relationships/font" Target="fonts/SourceSans3SemiBold-boldItalic.fntdata"/><Relationship Id="rId38" Type="http://schemas.openxmlformats.org/officeDocument/2006/relationships/font" Target="fonts/SourceSans3SemiBold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32779d094_2_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g3e32779d094_2_1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32779d094_2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g3e32779d094_2_1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32779d094_2_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g3e32779d094_2_1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32779d094_2_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g3e32779d094_2_1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32779d094_2_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g3e32779d094_2_1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32779d094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g3e32779d094_0_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32779d094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g3e32779d094_0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97f522cc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g3e97f522cce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32779d094_2_1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g3e32779d094_2_1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32779d094_2_1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g3e32779d094_2_1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32779d094_2_1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g3e32779d094_2_1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32779d094_2_1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g3e32779d094_2_1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32779d094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g3e32779d094_0_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97f522cce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g3e97f522cce_0_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32779d094_2_1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g3e32779d094_2_1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97f522cce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g3e97f522cce_0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e97f522cce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g3e97f522cce_0_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97f522cce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g3e97f522cce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97f522cce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g3e97f522cce_0_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97f522cce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g3e97f522cce_0_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32779d094_2_1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g3e32779d094_2_1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e32779d094_2_2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g3e32779d094_2_20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32779d094_2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g3e32779d094_2_1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32779d094_2_1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g3e32779d094_2_19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32779d094_2_2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g3e32779d094_2_2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showMasterSp="0" type="title">
  <p:cSld name="TITLE"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8483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>
            <p:ph idx="2" type="pic"/>
          </p:nvPr>
        </p:nvSpPr>
        <p:spPr>
          <a:xfrm>
            <a:off x="6819843" y="286172"/>
            <a:ext cx="2009775" cy="382258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457200" y="1057275"/>
            <a:ext cx="8229599" cy="17119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eko SemiBold"/>
              <a:buNone/>
              <a:defRPr sz="520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457200" y="2782650"/>
            <a:ext cx="8229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Sans 3 SemiBold"/>
              <a:buNone/>
              <a:defRPr sz="1800">
                <a:solidFill>
                  <a:schemeClr val="lt1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3" type="subTitle"/>
          </p:nvPr>
        </p:nvSpPr>
        <p:spPr>
          <a:xfrm>
            <a:off x="461400" y="4429125"/>
            <a:ext cx="8229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753">
          <p15:clr>
            <a:srgbClr val="E46962"/>
          </p15:clr>
        </p15:guide>
        <p15:guide id="4" orient="horz" pos="2203">
          <p15:clr>
            <a:srgbClr val="E46962"/>
          </p15:clr>
        </p15:guide>
        <p15:guide id="5" orient="horz" pos="2952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Numbered">
  <p:cSld name="Agenda Numbered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>
            <p:ph idx="1" type="body"/>
          </p:nvPr>
        </p:nvSpPr>
        <p:spPr>
          <a:xfrm>
            <a:off x="452438" y="13093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64" name="Google Shape;64;p15"/>
          <p:cNvSpPr/>
          <p:nvPr>
            <p:ph idx="2" type="body"/>
          </p:nvPr>
        </p:nvSpPr>
        <p:spPr>
          <a:xfrm>
            <a:off x="452438" y="189406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65" name="Google Shape;65;p15"/>
          <p:cNvSpPr/>
          <p:nvPr>
            <p:ph idx="3" type="body"/>
          </p:nvPr>
        </p:nvSpPr>
        <p:spPr>
          <a:xfrm>
            <a:off x="452438" y="24788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66" name="Google Shape;66;p15"/>
          <p:cNvSpPr/>
          <p:nvPr>
            <p:ph idx="4" type="body"/>
          </p:nvPr>
        </p:nvSpPr>
        <p:spPr>
          <a:xfrm>
            <a:off x="452438" y="36483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67" name="Google Shape;67;p15"/>
          <p:cNvSpPr/>
          <p:nvPr>
            <p:ph idx="5" type="body"/>
          </p:nvPr>
        </p:nvSpPr>
        <p:spPr>
          <a:xfrm>
            <a:off x="452438" y="306356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68" name="Google Shape;68;p15"/>
          <p:cNvSpPr/>
          <p:nvPr>
            <p:ph idx="6" type="body"/>
          </p:nvPr>
        </p:nvSpPr>
        <p:spPr>
          <a:xfrm>
            <a:off x="4716645" y="13093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69" name="Google Shape;69;p15"/>
          <p:cNvSpPr/>
          <p:nvPr>
            <p:ph idx="7" type="body"/>
          </p:nvPr>
        </p:nvSpPr>
        <p:spPr>
          <a:xfrm>
            <a:off x="4716645" y="189406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70" name="Google Shape;70;p15"/>
          <p:cNvSpPr/>
          <p:nvPr>
            <p:ph idx="8" type="body"/>
          </p:nvPr>
        </p:nvSpPr>
        <p:spPr>
          <a:xfrm>
            <a:off x="4716645" y="24788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71" name="Google Shape;71;p15"/>
          <p:cNvSpPr/>
          <p:nvPr>
            <p:ph idx="9" type="body"/>
          </p:nvPr>
        </p:nvSpPr>
        <p:spPr>
          <a:xfrm>
            <a:off x="4716645" y="36483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72" name="Google Shape;72;p15"/>
          <p:cNvSpPr/>
          <p:nvPr>
            <p:ph idx="13" type="body"/>
          </p:nvPr>
        </p:nvSpPr>
        <p:spPr>
          <a:xfrm>
            <a:off x="4716645" y="306356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5"/>
          <p:cNvSpPr txBox="1"/>
          <p:nvPr>
            <p:ph idx="14" type="subTitle"/>
          </p:nvPr>
        </p:nvSpPr>
        <p:spPr>
          <a:xfrm>
            <a:off x="951200" y="130212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5" type="subTitle"/>
          </p:nvPr>
        </p:nvSpPr>
        <p:spPr>
          <a:xfrm>
            <a:off x="951200" y="188687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6" type="subTitle"/>
          </p:nvPr>
        </p:nvSpPr>
        <p:spPr>
          <a:xfrm>
            <a:off x="951200" y="247162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7" type="subTitle"/>
          </p:nvPr>
        </p:nvSpPr>
        <p:spPr>
          <a:xfrm>
            <a:off x="951200" y="305637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8" type="subTitle"/>
          </p:nvPr>
        </p:nvSpPr>
        <p:spPr>
          <a:xfrm>
            <a:off x="951200" y="364112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9" type="subTitle"/>
          </p:nvPr>
        </p:nvSpPr>
        <p:spPr>
          <a:xfrm>
            <a:off x="5215425" y="130212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20" type="subTitle"/>
          </p:nvPr>
        </p:nvSpPr>
        <p:spPr>
          <a:xfrm>
            <a:off x="5215425" y="188687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21" type="subTitle"/>
          </p:nvPr>
        </p:nvSpPr>
        <p:spPr>
          <a:xfrm>
            <a:off x="5215425" y="247162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22" type="subTitle"/>
          </p:nvPr>
        </p:nvSpPr>
        <p:spPr>
          <a:xfrm>
            <a:off x="5215425" y="305637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23" type="subTitle"/>
          </p:nvPr>
        </p:nvSpPr>
        <p:spPr>
          <a:xfrm>
            <a:off x="5215425" y="364112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69">
          <p15:clr>
            <a:srgbClr val="E46962"/>
          </p15:clr>
        </p15:guide>
        <p15:guide id="2" pos="599">
          <p15:clr>
            <a:srgbClr val="E46962"/>
          </p15:clr>
        </p15:guide>
        <p15:guide id="3" pos="2789">
          <p15:clr>
            <a:srgbClr val="E46962"/>
          </p15:clr>
        </p15:guide>
        <p15:guide id="4" pos="3285">
          <p15:clr>
            <a:srgbClr val="E46962"/>
          </p15:clr>
        </p15:guide>
        <p15:guide id="5" orient="horz" pos="2543">
          <p15:clr>
            <a:srgbClr val="E46962"/>
          </p15:clr>
        </p15:guide>
        <p15:guide id="6" orient="horz" pos="2294">
          <p15:clr>
            <a:srgbClr val="E46962"/>
          </p15:clr>
        </p15:guide>
        <p15:guide id="7" orient="horz" pos="1930">
          <p15:clr>
            <a:srgbClr val="E46962"/>
          </p15:clr>
        </p15:guide>
        <p15:guide id="8" orient="horz" pos="1557">
          <p15:clr>
            <a:srgbClr val="E46962"/>
          </p15:clr>
        </p15:guide>
        <p15:guide id="9" orient="horz" pos="1193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" showMasterSp="0">
  <p:cSld name="Section">
    <p:bg>
      <p:bgPr>
        <a:solidFill>
          <a:schemeClr val="dk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6"/>
          <p:cNvPicPr preferRelativeResize="0"/>
          <p:nvPr/>
        </p:nvPicPr>
        <p:blipFill rotWithShape="1">
          <a:blip r:embed="rId2">
            <a:alphaModFix/>
          </a:blip>
          <a:srcRect b="0" l="0" r="0" t="91691"/>
          <a:stretch/>
        </p:blipFill>
        <p:spPr>
          <a:xfrm>
            <a:off x="1850" y="4718049"/>
            <a:ext cx="9144000" cy="42753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57200" y="1522413"/>
            <a:ext cx="8229599" cy="1743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i="0" sz="480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RIght">
  <p:cSld name="Photo RIgh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8"/>
          <p:cNvSpPr txBox="1"/>
          <p:nvPr>
            <p:ph type="title"/>
          </p:nvPr>
        </p:nvSpPr>
        <p:spPr>
          <a:xfrm>
            <a:off x="457200" y="402336"/>
            <a:ext cx="3657599" cy="653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457075" y="1300175"/>
            <a:ext cx="3657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 showMasterSp="0" type="tx">
  <p:cSld name="TITLE_AND_BODY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/>
          <p:cNvPicPr preferRelativeResize="0"/>
          <p:nvPr/>
        </p:nvPicPr>
        <p:blipFill rotWithShape="1">
          <a:blip r:embed="rId2">
            <a:alphaModFix/>
          </a:blip>
          <a:srcRect b="0" l="0" r="0" t="91691"/>
          <a:stretch/>
        </p:blipFill>
        <p:spPr>
          <a:xfrm>
            <a:off x="1850" y="4718049"/>
            <a:ext cx="9144000" cy="42753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idx="1" type="subTitle"/>
          </p:nvPr>
        </p:nvSpPr>
        <p:spPr>
          <a:xfrm>
            <a:off x="457200" y="400050"/>
            <a:ext cx="82296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Teko SemiBold"/>
              <a:buNone/>
              <a:defRPr sz="4800">
                <a:solidFill>
                  <a:schemeClr val="lt2"/>
                </a:solidFill>
                <a:latin typeface="Teko SemiBold"/>
                <a:ea typeface="Teko SemiBold"/>
                <a:cs typeface="Teko SemiBold"/>
                <a:sym typeface="Teko SemiBold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Photo" showMasterSp="0">
  <p:cSld name="Title &amp; Photo"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05" name="Google Shape;105;p21"/>
          <p:cNvPicPr preferRelativeResize="0"/>
          <p:nvPr/>
        </p:nvPicPr>
        <p:blipFill rotWithShape="1">
          <a:blip r:embed="rId2">
            <a:alphaModFix/>
          </a:blip>
          <a:srcRect b="0" l="0" r="0" t="91898"/>
          <a:stretch/>
        </p:blipFill>
        <p:spPr>
          <a:xfrm>
            <a:off x="1850" y="4728697"/>
            <a:ext cx="9144000" cy="41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1"/>
          <p:cNvPicPr preferRelativeResize="0"/>
          <p:nvPr/>
        </p:nvPicPr>
        <p:blipFill rotWithShape="1">
          <a:blip r:embed="rId3">
            <a:alphaModFix/>
          </a:blip>
          <a:srcRect b="79429" l="0" r="0" t="26"/>
          <a:stretch/>
        </p:blipFill>
        <p:spPr>
          <a:xfrm>
            <a:off x="1850" y="0"/>
            <a:ext cx="91403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/>
          <p:nvPr>
            <p:ph idx="3" type="pic"/>
          </p:nvPr>
        </p:nvSpPr>
        <p:spPr>
          <a:xfrm>
            <a:off x="6819843" y="286172"/>
            <a:ext cx="2009775" cy="382258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1"/>
          <p:cNvSpPr txBox="1"/>
          <p:nvPr>
            <p:ph type="title"/>
          </p:nvPr>
        </p:nvSpPr>
        <p:spPr>
          <a:xfrm>
            <a:off x="457200" y="2263818"/>
            <a:ext cx="8229600" cy="17430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eko SemiBold"/>
              <a:buNone/>
              <a:defRPr sz="520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" type="subTitle"/>
          </p:nvPr>
        </p:nvSpPr>
        <p:spPr>
          <a:xfrm>
            <a:off x="450450" y="412900"/>
            <a:ext cx="5400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4" type="subTitle"/>
          </p:nvPr>
        </p:nvSpPr>
        <p:spPr>
          <a:xfrm>
            <a:off x="450450" y="4020350"/>
            <a:ext cx="82296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Sans 3 SemiBold"/>
              <a:buNone/>
              <a:defRPr sz="1800">
                <a:solidFill>
                  <a:schemeClr val="lt1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12">
          <p15:clr>
            <a:srgbClr val="E46962"/>
          </p15:clr>
        </p15:guide>
        <p15:guide id="2" pos="3686">
          <p15:clr>
            <a:srgbClr val="E46962"/>
          </p15:clr>
        </p15:guide>
        <p15:guide id="3" orient="horz" pos="2533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imple">
  <p:cSld name="Agenda Simple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457075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Photo Alt">
  <p:cSld name="Title &amp; Photo Al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3"/>
          <p:cNvSpPr txBox="1"/>
          <p:nvPr>
            <p:ph type="title"/>
          </p:nvPr>
        </p:nvSpPr>
        <p:spPr>
          <a:xfrm>
            <a:off x="5001965" y="813547"/>
            <a:ext cx="3684834" cy="175820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3"/>
          <p:cNvSpPr txBox="1"/>
          <p:nvPr>
            <p:ph idx="1" type="subTitle"/>
          </p:nvPr>
        </p:nvSpPr>
        <p:spPr>
          <a:xfrm>
            <a:off x="5001975" y="2641600"/>
            <a:ext cx="3684900" cy="1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Source Sans 3 Medium"/>
              <a:buNone/>
              <a:defRPr sz="1700">
                <a:latin typeface="Source Sans 3 Medium"/>
                <a:ea typeface="Source Sans 3 Medium"/>
                <a:cs typeface="Source Sans 3 Medium"/>
                <a:sym typeface="Source Sans 3 Medium"/>
              </a:defRPr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Title &amp; Conten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457200" y="1300163"/>
            <a:ext cx="8229600" cy="3128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indent="-3302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2 Columns">
  <p:cSld name="Title &amp; 2 Columns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457200" y="1300175"/>
            <a:ext cx="39504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2" type="body"/>
          </p:nvPr>
        </p:nvSpPr>
        <p:spPr>
          <a:xfrm>
            <a:off x="4736400" y="1300175"/>
            <a:ext cx="39504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Fact">
  <p:cSld name="Big Fac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27"/>
          <p:cNvSpPr txBox="1"/>
          <p:nvPr>
            <p:ph type="title"/>
          </p:nvPr>
        </p:nvSpPr>
        <p:spPr>
          <a:xfrm>
            <a:off x="457200" y="891100"/>
            <a:ext cx="8229600" cy="23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9pPr>
          </a:lstStyle>
          <a:p/>
        </p:txBody>
      </p:sp>
      <p:sp>
        <p:nvSpPr>
          <p:cNvPr id="135" name="Google Shape;135;p27"/>
          <p:cNvSpPr txBox="1"/>
          <p:nvPr>
            <p:ph idx="1" type="subTitle"/>
          </p:nvPr>
        </p:nvSpPr>
        <p:spPr>
          <a:xfrm>
            <a:off x="457200" y="3098325"/>
            <a:ext cx="82296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50"/>
              <a:buFont typeface="Source Sans 3 SemiBold"/>
              <a:buNone/>
              <a:defRPr sz="2050"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/>
          <p:nvPr>
            <p:ph idx="1" type="body"/>
          </p:nvPr>
        </p:nvSpPr>
        <p:spPr>
          <a:xfrm>
            <a:off x="911259" y="3558795"/>
            <a:ext cx="7575020" cy="238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None/>
              <a:defRPr sz="1150"/>
            </a:lvl1pPr>
            <a:lvl2pPr indent="-301625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2pPr>
            <a:lvl3pPr indent="-301625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3pPr>
            <a:lvl4pPr indent="-301625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4pPr>
            <a:lvl5pPr indent="-301625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5pPr>
            <a:lvl6pPr indent="-301625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6pPr>
            <a:lvl7pPr indent="-301625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7pPr>
            <a:lvl8pPr indent="-301625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8pPr>
            <a:lvl9pPr indent="-301625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9pPr>
          </a:lstStyle>
          <a:p/>
        </p:txBody>
      </p:sp>
      <p:sp>
        <p:nvSpPr>
          <p:cNvPr id="138" name="Google Shape;138;p28"/>
          <p:cNvSpPr txBox="1"/>
          <p:nvPr>
            <p:ph idx="2" type="body"/>
          </p:nvPr>
        </p:nvSpPr>
        <p:spPr>
          <a:xfrm>
            <a:off x="657721" y="1057275"/>
            <a:ext cx="7828558" cy="223377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 SemiBold"/>
              <a:buNone/>
              <a:defRPr i="0" sz="3200">
                <a:solidFill>
                  <a:srgbClr val="182B49"/>
                </a:solidFill>
                <a:latin typeface="Teko SemiBold"/>
                <a:ea typeface="Teko SemiBold"/>
                <a:cs typeface="Teko SemiBold"/>
                <a:sym typeface="Teko SemiBold"/>
              </a:defRPr>
            </a:lvl1pPr>
            <a:lvl2pPr indent="-4318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 SemiBold"/>
              <a:buChar char="•"/>
              <a:defRPr sz="3200">
                <a:solidFill>
                  <a:srgbClr val="182B49"/>
                </a:solidFill>
                <a:latin typeface="Teko SemiBold"/>
                <a:ea typeface="Teko SemiBold"/>
                <a:cs typeface="Teko SemiBold"/>
                <a:sym typeface="Teko SemiBold"/>
              </a:defRPr>
            </a:lvl2pPr>
            <a:lvl3pPr indent="-4318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 SemiBold"/>
              <a:buChar char="•"/>
              <a:defRPr sz="3200">
                <a:solidFill>
                  <a:srgbClr val="182B49"/>
                </a:solidFill>
                <a:latin typeface="Teko SemiBold"/>
                <a:ea typeface="Teko SemiBold"/>
                <a:cs typeface="Teko SemiBold"/>
                <a:sym typeface="Teko SemiBold"/>
              </a:defRPr>
            </a:lvl3pPr>
            <a:lvl4pPr indent="-4318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 SemiBold"/>
              <a:buChar char="•"/>
              <a:defRPr sz="3200">
                <a:solidFill>
                  <a:srgbClr val="182B49"/>
                </a:solidFill>
                <a:latin typeface="Teko SemiBold"/>
                <a:ea typeface="Teko SemiBold"/>
                <a:cs typeface="Teko SemiBold"/>
                <a:sym typeface="Teko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 SemiBold"/>
              <a:buNone/>
              <a:defRPr sz="3200">
                <a:solidFill>
                  <a:srgbClr val="182B49"/>
                </a:solidFill>
                <a:latin typeface="Teko SemiBold"/>
                <a:ea typeface="Teko SemiBold"/>
                <a:cs typeface="Teko SemiBold"/>
                <a:sym typeface="Teko SemiBold"/>
              </a:defRPr>
            </a:lvl5pPr>
            <a:lvl6pPr indent="-4318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eko SemiBold"/>
              <a:buChar char="•"/>
              <a:defRPr sz="3200">
                <a:latin typeface="Teko SemiBold"/>
                <a:ea typeface="Teko SemiBold"/>
                <a:cs typeface="Teko SemiBold"/>
                <a:sym typeface="Teko SemiBold"/>
              </a:defRPr>
            </a:lvl6pPr>
            <a:lvl7pPr indent="-4318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eko SemiBold"/>
              <a:buChar char="•"/>
              <a:defRPr sz="3200">
                <a:latin typeface="Teko SemiBold"/>
                <a:ea typeface="Teko SemiBold"/>
                <a:cs typeface="Teko SemiBold"/>
                <a:sym typeface="Teko SemiBold"/>
              </a:defRPr>
            </a:lvl7pPr>
            <a:lvl8pPr indent="-4318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eko SemiBold"/>
              <a:buChar char="•"/>
              <a:defRPr sz="3200">
                <a:latin typeface="Teko SemiBold"/>
                <a:ea typeface="Teko SemiBold"/>
                <a:cs typeface="Teko SemiBold"/>
                <a:sym typeface="Teko SemiBold"/>
              </a:defRPr>
            </a:lvl8pPr>
            <a:lvl9pPr indent="-4318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eko SemiBold"/>
              <a:buChar char="•"/>
              <a:defRPr sz="3200">
                <a:latin typeface="Teko SemiBold"/>
                <a:ea typeface="Teko SemiBold"/>
                <a:cs typeface="Teko SemiBold"/>
                <a:sym typeface="Teko SemiBold"/>
              </a:defRPr>
            </a:lvl9pPr>
          </a:lstStyle>
          <a:p/>
        </p:txBody>
      </p:sp>
      <p:sp>
        <p:nvSpPr>
          <p:cNvPr id="139" name="Google Shape;139;p28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9"/>
          <p:cNvSpPr/>
          <p:nvPr>
            <p:ph idx="2" type="pic"/>
          </p:nvPr>
        </p:nvSpPr>
        <p:spPr>
          <a:xfrm>
            <a:off x="5910262" y="2647500"/>
            <a:ext cx="2776538" cy="2019774"/>
          </a:xfrm>
          <a:prstGeom prst="roundRect">
            <a:avLst>
              <a:gd fmla="val 4810" name="adj"/>
            </a:avLst>
          </a:prstGeom>
          <a:noFill/>
          <a:ln>
            <a:noFill/>
          </a:ln>
        </p:spPr>
      </p:sp>
      <p:sp>
        <p:nvSpPr>
          <p:cNvPr id="142" name="Google Shape;142;p29"/>
          <p:cNvSpPr/>
          <p:nvPr>
            <p:ph idx="3" type="pic"/>
          </p:nvPr>
        </p:nvSpPr>
        <p:spPr>
          <a:xfrm>
            <a:off x="5910262" y="452296"/>
            <a:ext cx="2776538" cy="2019774"/>
          </a:xfrm>
          <a:prstGeom prst="roundRect">
            <a:avLst>
              <a:gd fmla="val 4810" name="adj"/>
            </a:avLst>
          </a:prstGeom>
          <a:noFill/>
          <a:ln>
            <a:noFill/>
          </a:ln>
        </p:spPr>
      </p:sp>
      <p:sp>
        <p:nvSpPr>
          <p:cNvPr id="143" name="Google Shape;143;p29"/>
          <p:cNvSpPr/>
          <p:nvPr>
            <p:ph idx="4" type="pic"/>
          </p:nvPr>
        </p:nvSpPr>
        <p:spPr>
          <a:xfrm>
            <a:off x="457200" y="452628"/>
            <a:ext cx="5291100" cy="4214700"/>
          </a:xfrm>
          <a:prstGeom prst="roundRect">
            <a:avLst>
              <a:gd fmla="val 2254" name="adj"/>
            </a:avLst>
          </a:prstGeom>
          <a:noFill/>
          <a:ln>
            <a:noFill/>
          </a:ln>
        </p:spPr>
      </p:sp>
      <p:sp>
        <p:nvSpPr>
          <p:cNvPr id="144" name="Google Shape;144;p29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30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ame Only">
  <p:cSld name="Frame 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21" Type="http://schemas.openxmlformats.org/officeDocument/2006/relationships/theme" Target="../theme/theme3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8.xml"/><Relationship Id="rId6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7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029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38833" y="240172"/>
            <a:ext cx="1033352" cy="19375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457200" y="1300163"/>
            <a:ext cx="8229600" cy="3128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eko SemiBold"/>
              <a:buNone/>
              <a:defRPr b="0" i="0" sz="3400" u="none" cap="none" strike="noStrike">
                <a:solidFill>
                  <a:schemeClr val="dk1"/>
                </a:solidFill>
                <a:latin typeface="Teko SemiBold"/>
                <a:ea typeface="Teko SemiBold"/>
                <a:cs typeface="Teko SemiBold"/>
                <a:sym typeface="Teko SemiBold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819">
          <p15:clr>
            <a:srgbClr val="F26B43"/>
          </p15:clr>
        </p15:guide>
        <p15:guide id="4" orient="horz" pos="2790">
          <p15:clr>
            <a:srgbClr val="F26B43"/>
          </p15:clr>
        </p15:guide>
        <p15:guide id="5" orient="horz" pos="252">
          <p15:clr>
            <a:srgbClr val="F26B43"/>
          </p15:clr>
        </p15:guide>
        <p15:guide id="6" orient="horz" pos="666">
          <p15:clr>
            <a:srgbClr val="F26B43"/>
          </p15:clr>
        </p15:guide>
        <p15:guide id="7" pos="288">
          <p15:clr>
            <a:srgbClr val="F26B43"/>
          </p15:clr>
        </p15:guide>
        <p15:guide id="8" pos="5472">
          <p15:clr>
            <a:srgbClr val="F26B43"/>
          </p15:clr>
        </p15:guide>
        <p15:guide id="9" pos="259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10"/>
          <a:stretch/>
        </p:blipFill>
        <p:spPr>
          <a:xfrm>
            <a:off x="6819843" y="286172"/>
            <a:ext cx="2009774" cy="38225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2"/>
          <p:cNvSpPr txBox="1"/>
          <p:nvPr>
            <p:ph type="title"/>
          </p:nvPr>
        </p:nvSpPr>
        <p:spPr>
          <a:xfrm>
            <a:off x="457200" y="1057275"/>
            <a:ext cx="8229600" cy="171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CSE/DSC 234 — Project 2</a:t>
            </a:r>
            <a:endParaRPr/>
          </a:p>
        </p:txBody>
      </p:sp>
      <p:sp>
        <p:nvSpPr>
          <p:cNvPr id="156" name="Google Shape;156;p32"/>
          <p:cNvSpPr txBox="1"/>
          <p:nvPr>
            <p:ph idx="1" type="subTitle"/>
          </p:nvPr>
        </p:nvSpPr>
        <p:spPr>
          <a:xfrm>
            <a:off x="457200" y="2782650"/>
            <a:ext cx="8229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Schema Linking with Supervised Fine-Tuning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3"/>
          <p:cNvSpPr/>
          <p:nvPr>
            <p:ph idx="1" type="body"/>
          </p:nvPr>
        </p:nvSpPr>
        <p:spPr>
          <a:xfrm>
            <a:off x="452438" y="13093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62" name="Google Shape;162;p33"/>
          <p:cNvSpPr/>
          <p:nvPr>
            <p:ph idx="2" type="body"/>
          </p:nvPr>
        </p:nvSpPr>
        <p:spPr>
          <a:xfrm>
            <a:off x="452438" y="189406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63" name="Google Shape;163;p33"/>
          <p:cNvSpPr/>
          <p:nvPr>
            <p:ph idx="3" type="body"/>
          </p:nvPr>
        </p:nvSpPr>
        <p:spPr>
          <a:xfrm>
            <a:off x="452438" y="24788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64" name="Google Shape;164;p33"/>
          <p:cNvSpPr/>
          <p:nvPr>
            <p:ph idx="5" type="body"/>
          </p:nvPr>
        </p:nvSpPr>
        <p:spPr>
          <a:xfrm>
            <a:off x="452438" y="306356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65" name="Google Shape;165;p33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166" name="Google Shape;166;p33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33"/>
          <p:cNvSpPr txBox="1"/>
          <p:nvPr>
            <p:ph idx="14" type="subTitle"/>
          </p:nvPr>
        </p:nvSpPr>
        <p:spPr>
          <a:xfrm>
            <a:off x="951200" y="1302125"/>
            <a:ext cx="6025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/>
              <a:t>Part 1 (</a:t>
            </a:r>
            <a:r>
              <a:rPr lang="en"/>
              <a:t>Project overview, dataset</a:t>
            </a:r>
            <a:r>
              <a:rPr lang="en"/>
              <a:t>)</a:t>
            </a:r>
            <a:endParaRPr/>
          </a:p>
        </p:txBody>
      </p:sp>
      <p:sp>
        <p:nvSpPr>
          <p:cNvPr id="168" name="Google Shape;168;p33"/>
          <p:cNvSpPr txBox="1"/>
          <p:nvPr>
            <p:ph idx="15" type="subTitle"/>
          </p:nvPr>
        </p:nvSpPr>
        <p:spPr>
          <a:xfrm>
            <a:off x="951200" y="1886875"/>
            <a:ext cx="6230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/>
              <a:t>Part 2 (I</a:t>
            </a:r>
            <a:r>
              <a:rPr lang="en"/>
              <a:t>nfrastructure</a:t>
            </a:r>
            <a:r>
              <a:rPr lang="en"/>
              <a:t>)</a:t>
            </a:r>
            <a:endParaRPr/>
          </a:p>
        </p:txBody>
      </p:sp>
      <p:sp>
        <p:nvSpPr>
          <p:cNvPr id="169" name="Google Shape;169;p33"/>
          <p:cNvSpPr txBox="1"/>
          <p:nvPr>
            <p:ph idx="16" type="subTitle"/>
          </p:nvPr>
        </p:nvSpPr>
        <p:spPr>
          <a:xfrm>
            <a:off x="951200" y="247162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/>
              <a:t>Part 3 (Evaluation, deliverables, logistics)</a:t>
            </a:r>
            <a:endParaRPr/>
          </a:p>
        </p:txBody>
      </p:sp>
      <p:sp>
        <p:nvSpPr>
          <p:cNvPr id="170" name="Google Shape;170;p33"/>
          <p:cNvSpPr txBox="1"/>
          <p:nvPr>
            <p:ph idx="17" type="subTitle"/>
          </p:nvPr>
        </p:nvSpPr>
        <p:spPr>
          <a:xfrm>
            <a:off x="951200" y="305637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/>
              <a:t>Live Demo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" name="Google Shape;176;p34"/>
          <p:cNvSpPr txBox="1"/>
          <p:nvPr>
            <p:ph type="title"/>
          </p:nvPr>
        </p:nvSpPr>
        <p:spPr>
          <a:xfrm>
            <a:off x="457200" y="1522413"/>
            <a:ext cx="82296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Part I: Project Overview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5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High-level task</a:t>
            </a:r>
            <a:endParaRPr/>
          </a:p>
        </p:txBody>
      </p:sp>
      <p:sp>
        <p:nvSpPr>
          <p:cNvPr id="182" name="Google Shape;182;p35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35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Training Data Strategy: Data composition, augmentation, schema serialization and prompt formatting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SFT over SLMs</a:t>
            </a:r>
            <a:r>
              <a:rPr lang="en"/>
              <a:t>:  </a:t>
            </a:r>
            <a:r>
              <a:rPr lang="en"/>
              <a:t>Structured schema-links JSON output. Identify tables and columns referenced by the implied SQL query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Experimentation and evaluation - RapidFire AI OSS, tradeoffs between recall, precision, and latency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6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Learning outcomes</a:t>
            </a:r>
            <a:endParaRPr/>
          </a:p>
        </p:txBody>
      </p:sp>
      <p:sp>
        <p:nvSpPr>
          <p:cNvPr id="189" name="Google Shape;189;p36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0" name="Google Shape;190;p36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Build an end-to-end SFT pipeline for a small language model (SLM)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Develop structured training data for schema linking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Apply identifier-level precision / recall / F1 evaluation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Use RapidFire AI OSS for multi-config SFT experiments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Develop engineering judgment about SLM capacity, data/context tradeoffs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7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52941"/>
              <a:buNone/>
            </a:pPr>
            <a:r>
              <a:rPr lang="en"/>
              <a:t>What is Schema Linking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52941"/>
              <a:buNone/>
            </a:pPr>
            <a:r>
              <a:t/>
            </a:r>
            <a:endParaRPr/>
          </a:p>
        </p:txBody>
      </p:sp>
      <p:sp>
        <p:nvSpPr>
          <p:cNvPr id="196" name="Google Shape;196;p37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7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b="1" lang="en"/>
              <a:t>Input</a:t>
            </a:r>
            <a:r>
              <a:rPr lang="en"/>
              <a:t>: Natural language question + database schema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b="1" lang="en"/>
              <a:t>Output</a:t>
            </a:r>
            <a:r>
              <a:rPr lang="en"/>
              <a:t>: Structured JSON identifying relevant tables and columns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Example:</a:t>
            </a:r>
            <a:endParaRPr/>
          </a:p>
          <a:p>
            <a:pPr indent="0" lvl="0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/>
              <a:t>{</a:t>
            </a:r>
            <a:endParaRPr/>
          </a:p>
          <a:p>
            <a:pPr indent="0" lvl="0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/>
              <a:t> "Orders": ["OrderID", "CustomerID"],</a:t>
            </a:r>
            <a:endParaRPr/>
          </a:p>
          <a:p>
            <a:pPr indent="0" lvl="0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/>
              <a:t> "Customers": ["CustomerName"]</a:t>
            </a:r>
            <a:endParaRPr/>
          </a:p>
          <a:p>
            <a:pPr indent="0" lvl="0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b="1" lang="en"/>
              <a:t>Goal</a:t>
            </a:r>
            <a:r>
              <a:rPr lang="en"/>
              <a:t>: Recover the database entities referenced by the implied SQL query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Applications: NL-to-SQL, retrieval, query routing, grounding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8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52941"/>
              <a:buNone/>
            </a:pPr>
            <a:r>
              <a:rPr lang="en"/>
              <a:t>Dataset Overview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5294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52941"/>
              <a:buNone/>
            </a:pPr>
            <a:r>
              <a:t/>
            </a:r>
            <a:endParaRPr/>
          </a:p>
        </p:txBody>
      </p:sp>
      <p:sp>
        <p:nvSpPr>
          <p:cNvPr id="203" name="Google Shape;203;p38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38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Source: SNAILS benchmark (UCSD ADALab)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503 labeled NL ↔ SQL pairs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17 database schemas across multiple domains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Train: 301 examples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Validation: 101 examples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Hidden test includes paraphrases and identifier variants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52941"/>
              <a:buNone/>
            </a:pPr>
            <a:r>
              <a:rPr lang="en"/>
              <a:t>Why SFT a small model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52941"/>
              <a:buNone/>
            </a:pPr>
            <a:r>
              <a:t/>
            </a:r>
            <a:endParaRPr/>
          </a:p>
        </p:txBody>
      </p:sp>
      <p:sp>
        <p:nvSpPr>
          <p:cNvPr id="210" name="Google Shape;210;p39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39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Frontier APIs can already perform schema linking reasonably well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Goal: build specialized grounding systems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Small models provide lower latency and lower serving cost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SFT improves structured JSON reliability and identifier discipline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Enterprise deployments often require local/private inference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0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" name="Google Shape;217;p40"/>
          <p:cNvSpPr txBox="1"/>
          <p:nvPr>
            <p:ph type="title"/>
          </p:nvPr>
        </p:nvSpPr>
        <p:spPr>
          <a:xfrm>
            <a:off x="457200" y="1522413"/>
            <a:ext cx="82296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Part II: Infrastructure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Infrastructure </a:t>
            </a:r>
            <a:endParaRPr/>
          </a:p>
        </p:txBody>
      </p:sp>
      <p:sp>
        <p:nvSpPr>
          <p:cNvPr id="223" name="Google Shape;223;p41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41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Compute Environment</a:t>
            </a:r>
            <a:endParaRPr b="1"/>
          </a:p>
          <a:p>
            <a:pPr indent="-33020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SDSC DSMLP via DataHub</a:t>
            </a:r>
            <a:endParaRPr/>
          </a:p>
          <a:p>
            <a:pPr indent="-33020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Single NVIDIA RTX PRO 6000 Blackwell MIG slice</a:t>
            </a:r>
            <a:endParaRPr/>
          </a:p>
          <a:p>
            <a:pPr indent="-33020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~24 GB available GPU memory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Hard Deployment Constraints</a:t>
            </a:r>
            <a:endParaRPr b="1"/>
          </a:p>
          <a:p>
            <a:pPr indent="-33020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Base model must be ≤ 2B parameters</a:t>
            </a:r>
            <a:endParaRPr/>
          </a:p>
          <a:p>
            <a:pPr indent="-33020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Final system must run locally on DSMLP</a:t>
            </a:r>
            <a:endParaRPr/>
          </a:p>
          <a:p>
            <a:pPr indent="-33020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No external inference APIs allowed</a:t>
            </a:r>
            <a:endParaRPr/>
          </a:p>
          <a:p>
            <a:pPr indent="-33020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Inference must complete within deployment/runtime limits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2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52941"/>
              <a:buNone/>
            </a:pPr>
            <a:r>
              <a:rPr lang="en"/>
              <a:t>Suggestions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52941"/>
              <a:buNone/>
            </a:pPr>
            <a:r>
              <a:t/>
            </a:r>
            <a:endParaRPr/>
          </a:p>
        </p:txBody>
      </p:sp>
      <p:sp>
        <p:nvSpPr>
          <p:cNvPr id="230" name="Google Shape;230;p42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1" name="Google Shape;231;p42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Re</a:t>
            </a:r>
            <a:r>
              <a:rPr b="1" lang="en"/>
              <a:t>commended Training Stack</a:t>
            </a:r>
            <a:endParaRPr b="1"/>
          </a:p>
          <a:p>
            <a:pPr indent="-33020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RapidFire AI OSS</a:t>
            </a:r>
            <a:endParaRPr/>
          </a:p>
          <a:p>
            <a:pPr indent="-33020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HuggingFace Transformers + TRL</a:t>
            </a:r>
            <a:endParaRPr/>
          </a:p>
          <a:p>
            <a:pPr indent="-33020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PEFT / LoRA / QLoRA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Suggested Base Models</a:t>
            </a:r>
            <a:endParaRPr b="1"/>
          </a:p>
          <a:p>
            <a:pPr indent="-33020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Qwen2.5-0.5B / 1.5B</a:t>
            </a:r>
            <a:endParaRPr/>
          </a:p>
          <a:p>
            <a:pPr indent="-33020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Qwen3-0.6B / 1.7B</a:t>
            </a:r>
            <a:endParaRPr/>
          </a:p>
          <a:p>
            <a:pPr indent="-33020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Llama-3.2-1B-Instruct</a:t>
            </a:r>
            <a:endParaRPr/>
          </a:p>
          <a:p>
            <a:pPr indent="-33020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SmolLM2-1.7B-Instruct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52941"/>
              <a:buNone/>
            </a:pPr>
            <a:r>
              <a:rPr lang="en"/>
              <a:t>Training Knobs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52941"/>
              <a:buNone/>
            </a:pPr>
            <a:r>
              <a:t/>
            </a:r>
            <a:endParaRPr/>
          </a:p>
        </p:txBody>
      </p:sp>
      <p:sp>
        <p:nvSpPr>
          <p:cNvPr id="237" name="Google Shape;237;p43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8" name="Google Shape;238;p43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25000" lnSpcReduction="20000"/>
          </a:bodyPr>
          <a:lstStyle/>
          <a:p>
            <a:pPr indent="-230432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" sz="6515"/>
              <a:t>Base model family and size</a:t>
            </a:r>
            <a:endParaRPr sz="6515"/>
          </a:p>
          <a:p>
            <a:pPr indent="-230432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" sz="6515"/>
              <a:t>LoRA vs QLoRA vs full FT</a:t>
            </a:r>
            <a:endParaRPr sz="6515"/>
          </a:p>
          <a:p>
            <a:pPr indent="-230432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" sz="6515"/>
              <a:t>Learning rate, batch size, epochs</a:t>
            </a:r>
            <a:endParaRPr sz="6515"/>
          </a:p>
          <a:p>
            <a:pPr indent="-230432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" sz="6515"/>
              <a:t>Schema serialization</a:t>
            </a:r>
            <a:endParaRPr sz="6515"/>
          </a:p>
          <a:p>
            <a:pPr indent="-230432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" sz="6515"/>
              <a:t>Output formatting</a:t>
            </a:r>
            <a:endParaRPr sz="6515"/>
          </a:p>
          <a:p>
            <a:pPr indent="-230432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" sz="6515"/>
              <a:t>Training data augmentation</a:t>
            </a:r>
            <a:endParaRPr sz="6515"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4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Release packet &amp; evaluation</a:t>
            </a:r>
            <a:endParaRPr/>
          </a:p>
        </p:txBody>
      </p:sp>
      <p:sp>
        <p:nvSpPr>
          <p:cNvPr id="244" name="Google Shape;244;p44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44"/>
          <p:cNvSpPr txBox="1"/>
          <p:nvPr>
            <p:ph idx="1" type="body"/>
          </p:nvPr>
        </p:nvSpPr>
        <p:spPr>
          <a:xfrm>
            <a:off x="457200" y="1300175"/>
            <a:ext cx="8229600" cy="3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Database Schemas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Training Set: train.json, 301 examples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Released Validation Set: validation.json, 101 examples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Evaluation Script: Same script used for hidden-test grading.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SQL-to-Schema-Links Helper: the parser used to extract ground truth from SNAILS gold SQL. Use it to label any additional SQL you write or synthesize.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Sample Inference Stub: documenting the CLI and I/O contract your main.py must follow.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5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45"/>
          <p:cNvSpPr txBox="1"/>
          <p:nvPr>
            <p:ph type="title"/>
          </p:nvPr>
        </p:nvSpPr>
        <p:spPr>
          <a:xfrm>
            <a:off x="457200" y="1522413"/>
            <a:ext cx="82296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Part III: Evaluation and Logistics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6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Evaluation and Leaderboard</a:t>
            </a:r>
            <a:endParaRPr/>
          </a:p>
        </p:txBody>
      </p:sp>
      <p:sp>
        <p:nvSpPr>
          <p:cNvPr id="257" name="Google Shape;257;p46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8" name="Google Shape;258;p46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Evaluation Metrics: For each question, evaluation is performed over:</a:t>
            </a:r>
            <a:endParaRPr/>
          </a:p>
          <a:p>
            <a:pPr indent="-33020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Table Identifiers: Set of referenced table names</a:t>
            </a:r>
            <a:endParaRPr/>
          </a:p>
          <a:p>
            <a:pPr indent="-33020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Column Identifiers: Set of referenced table.column pairs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Metrics computed: Precision, Recall, F1 Score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Note: all metrics are </a:t>
            </a:r>
            <a:r>
              <a:rPr b="1" lang="en"/>
              <a:t>macro-averaged across questions</a:t>
            </a:r>
            <a:r>
              <a:rPr lang="en"/>
              <a:t>, case-insensitive, hallucination-sensitive (invalid identifiers reduce precision)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7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Evaluation and Leaderboard</a:t>
            </a:r>
            <a:endParaRPr/>
          </a:p>
        </p:txBody>
      </p:sp>
      <p:sp>
        <p:nvSpPr>
          <p:cNvPr id="264" name="Google Shape;264;p47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47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0734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b="1" lang="en"/>
              <a:t>Wildcard Boundary</a:t>
            </a:r>
            <a:r>
              <a:rPr lang="en"/>
              <a:t>: Wildcard SQL operations do not correspond to specific columns. Example: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/>
              <a:t>SELECT count(*) FROM Orders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/>
              <a:t>Expected schema links: { "Orders": [] }</a:t>
            </a:r>
            <a:endParaRPr/>
          </a:p>
          <a:p>
            <a:pPr indent="-30734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b="1" lang="en"/>
              <a:t>Empty-Gold Boundary</a:t>
            </a:r>
            <a:r>
              <a:rPr lang="en"/>
              <a:t>: Some questions have valid table references but an empty gold column set</a:t>
            </a:r>
            <a:endParaRPr/>
          </a:p>
          <a:p>
            <a:pPr indent="-30734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If prediction is also empty</a:t>
            </a:r>
            <a:endParaRPr/>
          </a:p>
          <a:p>
            <a:pPr indent="-30734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Precision = 1</a:t>
            </a:r>
            <a:endParaRPr/>
          </a:p>
          <a:p>
            <a:pPr indent="-30734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Recall = 1</a:t>
            </a:r>
            <a:endParaRPr/>
          </a:p>
          <a:p>
            <a:pPr indent="-30734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F1 = 1</a:t>
            </a:r>
            <a:endParaRPr/>
          </a:p>
          <a:p>
            <a:pPr indent="-30734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If prediction contains extra columns</a:t>
            </a:r>
            <a:endParaRPr/>
          </a:p>
          <a:p>
            <a:pPr indent="-30734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Precision = 0</a:t>
            </a:r>
            <a:endParaRPr/>
          </a:p>
          <a:p>
            <a:pPr indent="-30734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Recall = 1 </a:t>
            </a:r>
            <a:endParaRPr/>
          </a:p>
          <a:p>
            <a:pPr indent="-30734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F1 =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/>
              <a:t>These mistakes can significantly lower:</a:t>
            </a:r>
            <a:endParaRPr/>
          </a:p>
          <a:p>
            <a:pPr indent="-30734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column-level precision</a:t>
            </a:r>
            <a:endParaRPr/>
          </a:p>
          <a:p>
            <a:pPr indent="-3073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F1 score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8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Evaluation and Leaderboard</a:t>
            </a:r>
            <a:endParaRPr/>
          </a:p>
        </p:txBody>
      </p:sp>
      <p:sp>
        <p:nvSpPr>
          <p:cNvPr id="271" name="Google Shape;271;p48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48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Table Score : Average of P_T , R_T, F1_T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Column Score: Average of P_C, R_C, F1_C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Final leaderboard score:</a:t>
            </a:r>
            <a:endParaRPr sz="2063"/>
          </a:p>
          <a:p>
            <a:pPr indent="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/>
              <a:t>Leaderboard=0.5×TableScore+0.5×ColumnScore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9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Deliverables you must produce</a:t>
            </a:r>
            <a:endParaRPr/>
          </a:p>
        </p:txBody>
      </p:sp>
      <p:sp>
        <p:nvSpPr>
          <p:cNvPr id="278" name="Google Shape;278;p49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49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62500" lnSpcReduction="20000"/>
          </a:bodyPr>
          <a:lstStyle/>
          <a:p>
            <a:pPr indent="-310475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●"/>
            </a:pPr>
            <a:r>
              <a:rPr b="1" lang="en" sz="2063"/>
              <a:t>Training Data Strategy</a:t>
            </a:r>
            <a:endParaRPr b="1" sz="2063"/>
          </a:p>
          <a:p>
            <a:pPr indent="-3104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63"/>
              <a:t>Schema Serialization</a:t>
            </a:r>
            <a:endParaRPr sz="2063"/>
          </a:p>
          <a:p>
            <a:pPr indent="-3104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63"/>
              <a:t>full schema vs filtered schema</a:t>
            </a:r>
            <a:endParaRPr sz="2063"/>
          </a:p>
          <a:p>
            <a:pPr indent="-3104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63"/>
              <a:t>PK/FK annotations</a:t>
            </a:r>
            <a:endParaRPr sz="2063"/>
          </a:p>
          <a:p>
            <a:pPr indent="-3104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63"/>
              <a:t>type information</a:t>
            </a:r>
            <a:endParaRPr sz="2063"/>
          </a:p>
          <a:p>
            <a:pPr indent="-3104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63"/>
              <a:t>sample values</a:t>
            </a:r>
            <a:endParaRPr sz="2063"/>
          </a:p>
          <a:p>
            <a:pPr indent="-3104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2063"/>
              <a:t>Output Formatting</a:t>
            </a:r>
            <a:endParaRPr b="1" sz="2063"/>
          </a:p>
          <a:p>
            <a:pPr indent="-3104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63"/>
              <a:t>raw JSON</a:t>
            </a:r>
            <a:endParaRPr sz="2063"/>
          </a:p>
          <a:p>
            <a:pPr indent="-3104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63"/>
              <a:t>sorted identifiers</a:t>
            </a:r>
            <a:endParaRPr sz="2063"/>
          </a:p>
          <a:p>
            <a:pPr indent="-3104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63"/>
              <a:t>reasoning vs direct generation</a:t>
            </a:r>
            <a:endParaRPr sz="2063"/>
          </a:p>
          <a:p>
            <a:pPr indent="-3104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63"/>
              <a:t>Data Augmentation (optional)</a:t>
            </a:r>
            <a:endParaRPr sz="2063"/>
          </a:p>
          <a:p>
            <a:pPr indent="-3104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63"/>
              <a:t>NL paraphrases</a:t>
            </a:r>
            <a:endParaRPr sz="2063"/>
          </a:p>
          <a:p>
            <a:pPr indent="-3104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63"/>
              <a:t>synthetic NL-SQL examples</a:t>
            </a:r>
            <a:endParaRPr sz="2063"/>
          </a:p>
          <a:p>
            <a:pPr indent="-3104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63"/>
              <a:t>identifier variants</a:t>
            </a:r>
            <a:endParaRPr sz="2063"/>
          </a:p>
          <a:p>
            <a:pPr indent="-3104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63"/>
              <a:t>negative examples</a:t>
            </a:r>
            <a:endParaRPr sz="2063"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 sz="2063"/>
              <a:t>Hint: Good data formatting and serialization may matter more than simply increasing dataset size.</a:t>
            </a:r>
            <a:endParaRPr sz="2063"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0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Deliverables you must produce</a:t>
            </a:r>
            <a:endParaRPr/>
          </a:p>
        </p:txBody>
      </p:sp>
      <p:sp>
        <p:nvSpPr>
          <p:cNvPr id="285" name="Google Shape;285;p50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50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Automated Inference Pipeline: </a:t>
            </a:r>
            <a:r>
              <a:rPr lang="en" sz="1300"/>
              <a:t>Your final system must run end-to-end via:</a:t>
            </a:r>
            <a:endParaRPr sz="1300"/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python3 main.py --input input_filename --output output_filename</a:t>
            </a:r>
            <a:endParaRPr sz="1300"/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Input: JSON entries containing:</a:t>
            </a:r>
            <a:endParaRPr sz="1300"/>
          </a:p>
          <a:p>
            <a:pPr indent="-3111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question_id</a:t>
            </a:r>
            <a:endParaRPr sz="1300"/>
          </a:p>
          <a:p>
            <a:pPr indent="-3111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db_id</a:t>
            </a:r>
            <a:endParaRPr sz="1300"/>
          </a:p>
          <a:p>
            <a:pPr indent="-3111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Question</a:t>
            </a:r>
            <a:endParaRPr sz="1300"/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Output: Structured schema-links JSON: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question_id</a:t>
            </a:r>
            <a:endParaRPr sz="1300"/>
          </a:p>
          <a:p>
            <a:pPr indent="-3111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schema_links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Important Requirements</a:t>
            </a:r>
            <a:endParaRPr b="1" sz="1300"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Must load schemas from local ./schemas/</a:t>
            </a:r>
            <a:endParaRPr sz="1300"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Must not hardcode answers</a:t>
            </a:r>
            <a:endParaRPr sz="1300"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Must run deterministically</a:t>
            </a:r>
            <a:endParaRPr sz="1300"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Must finish within runtime limits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Inference Goal: </a:t>
            </a:r>
            <a:r>
              <a:rPr lang="en" sz="1300"/>
              <a:t>~100 hidden-test questions within deployment budget.</a:t>
            </a:r>
            <a:endParaRPr sz="1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1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Deliverables you must produce</a:t>
            </a:r>
            <a:endParaRPr/>
          </a:p>
        </p:txBody>
      </p:sp>
      <p:sp>
        <p:nvSpPr>
          <p:cNvPr id="292" name="Google Shape;292;p51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3" name="Google Shape;293;p51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22098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Repository Must Include</a:t>
            </a:r>
            <a:endParaRPr/>
          </a:p>
          <a:p>
            <a:pPr indent="-32258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main.py</a:t>
            </a:r>
            <a:endParaRPr/>
          </a:p>
          <a:p>
            <a:pPr indent="-32258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schemas/</a:t>
            </a:r>
            <a:endParaRPr/>
          </a:p>
          <a:p>
            <a:pPr indent="-32258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logs/</a:t>
            </a:r>
            <a:endParaRPr/>
          </a:p>
          <a:p>
            <a:pPr indent="-32258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adapter/ or checkpoint/</a:t>
            </a:r>
            <a:endParaRPr/>
          </a:p>
          <a:p>
            <a:pPr indent="-32258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reproducible inference pipeline (mention any dependencies in a README)</a:t>
            </a:r>
            <a:endParaRPr/>
          </a:p>
          <a:p>
            <a:pPr indent="-32258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Report: pipeline, methodology (≥8 distinct configs), results, AI tools statement</a:t>
            </a:r>
            <a:endParaRPr/>
          </a:p>
          <a:p>
            <a:pPr indent="-32258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Private git repo + logs/ (rapidfire.log, experiments_path metrics) with full unaltered commit/push history</a:t>
            </a:r>
            <a:endParaRPr/>
          </a:p>
          <a:p>
            <a:pPr indent="-22098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Key Goal: One-command reproducible deployment on DSMLP.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2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Grading snapshot</a:t>
            </a:r>
            <a:endParaRPr/>
          </a:p>
        </p:txBody>
      </p:sp>
      <p:sp>
        <p:nvSpPr>
          <p:cNvPr id="299" name="Google Shape;299;p52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0" name="Google Shape;300;p52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4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78769"/>
              <a:buNone/>
            </a:pPr>
            <a:r>
              <a:rPr lang="en" sz="3250"/>
              <a:t>Auto-grade main.py: 10% | hidden test set - atleast 0.50 on leaderboard</a:t>
            </a:r>
            <a:endParaRPr sz="3250"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78769"/>
              <a:buNone/>
            </a:pPr>
            <a:r>
              <a:rPr lang="en" sz="3250"/>
              <a:t>Training Data and methodology in report : 4%</a:t>
            </a:r>
            <a:endParaRPr sz="3250"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78769"/>
              <a:buNone/>
            </a:pPr>
            <a:r>
              <a:rPr lang="en" sz="3250"/>
              <a:t>Report: 6% </a:t>
            </a:r>
            <a:endParaRPr sz="3250"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78769"/>
              <a:buNone/>
            </a:pPr>
            <a:r>
              <a:rPr lang="en" sz="3250"/>
              <a:t>(Plus, bonuses on leaderboard positions)</a:t>
            </a:r>
            <a:endParaRPr sz="3250"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24091"/>
              <a:buNone/>
            </a:pPr>
            <a:r>
              <a:t/>
            </a:r>
            <a:endParaRPr sz="2063"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3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Submission logistics</a:t>
            </a:r>
            <a:endParaRPr/>
          </a:p>
        </p:txBody>
      </p:sp>
      <p:sp>
        <p:nvSpPr>
          <p:cNvPr id="306" name="Google Shape;306;p53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53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Submit once per team via Canvas (only the final upload counts if you resubmit).</a:t>
            </a:r>
            <a:endParaRPr sz="1500"/>
          </a:p>
          <a:p>
            <a:pPr indent="-22860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Single zipped folder named &lt;TeamID&gt;.zip using your assigned team ID.</a:t>
            </a:r>
            <a:endParaRPr sz="1500"/>
          </a:p>
          <a:p>
            <a:pPr indent="-22860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Keep the course Projects page policies in mind (teams, integrity, git rules).</a:t>
            </a:r>
            <a:endParaRPr sz="1500"/>
          </a:p>
          <a:p>
            <a:pPr indent="-22860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Git repo expectations</a:t>
            </a:r>
            <a:endParaRPr sz="1500"/>
          </a:p>
          <a:p>
            <a:pPr indent="-323850" lvl="1" marL="9144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Private repo: add all TAs and the instructor as collaborators within 24 hours of release (GitHub IDs on Piazza).</a:t>
            </a:r>
            <a:endParaRPr sz="1500"/>
          </a:p>
          <a:p>
            <a:pPr indent="-323850" lvl="1" marL="9144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Commit and push logs regularly — rapidfire.log and metrics files are required evidence for experimentation and partial credit.</a:t>
            </a:r>
            <a:endParaRPr sz="1500"/>
          </a:p>
          <a:p>
            <a:pPr indent="-323850" lvl="1" marL="9144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History should show real iterative work; dumping AI-generated code in one commit or forging history is an integrity violation.</a:t>
            </a:r>
            <a:endParaRPr sz="1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4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Timeline and key dates</a:t>
            </a:r>
            <a:endParaRPr/>
          </a:p>
        </p:txBody>
      </p:sp>
      <p:sp>
        <p:nvSpPr>
          <p:cNvPr id="313" name="Google Shape;313;p54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4" name="Google Shape;314;p54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33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Release: </a:t>
            </a:r>
            <a:r>
              <a:rPr lang="en" sz="1200"/>
              <a:t>Tue May 19th</a:t>
            </a:r>
            <a:endParaRPr sz="1200"/>
          </a:p>
          <a:p>
            <a:pPr indent="-2133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Discussion: Wed May 20th</a:t>
            </a:r>
            <a:endParaRPr sz="1200"/>
          </a:p>
          <a:p>
            <a:pPr indent="-2133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TA discussion: Set up github repo and add us as collaborators: </a:t>
            </a:r>
            <a:r>
              <a:rPr lang="en" sz="1200"/>
              <a:t>Wed May 20th</a:t>
            </a:r>
            <a:r>
              <a:rPr lang="en" sz="1200"/>
              <a:t>, 11:59pm PT</a:t>
            </a:r>
            <a:endParaRPr sz="1200"/>
          </a:p>
          <a:p>
            <a:pPr indent="-304800" lvl="1" marL="9144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arunkk09</a:t>
            </a:r>
            <a:endParaRPr sz="1200"/>
          </a:p>
          <a:p>
            <a:pPr indent="-304800" lvl="1" marL="9144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hssingh15</a:t>
            </a:r>
            <a:endParaRPr sz="1200"/>
          </a:p>
          <a:p>
            <a:pPr indent="-304800" lvl="1" marL="9144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raghav10j</a:t>
            </a:r>
            <a:endParaRPr sz="1200"/>
          </a:p>
          <a:p>
            <a:pPr indent="-304800" lvl="1" marL="9144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hrb0755</a:t>
            </a:r>
            <a:endParaRPr sz="1200"/>
          </a:p>
          <a:p>
            <a:pPr indent="-304800" lvl="1" marL="9144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manasjain26</a:t>
            </a:r>
            <a:endParaRPr sz="1200"/>
          </a:p>
          <a:p>
            <a:pPr indent="-2133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Due: </a:t>
            </a:r>
            <a:r>
              <a:rPr lang="en" sz="1200"/>
              <a:t>Mon, Jun 1, 11:59pm PT</a:t>
            </a:r>
            <a:endParaRPr sz="1200"/>
          </a:p>
          <a:p>
            <a:pPr indent="0" lvl="0" marL="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What to do in practice</a:t>
            </a:r>
            <a:endParaRPr/>
          </a:p>
        </p:txBody>
      </p:sp>
      <p:sp>
        <p:nvSpPr>
          <p:cNvPr id="320" name="Google Shape;320;p55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55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9685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Get a minimal end-to-end baseline working first: Small model + LoRA + raw JSON output. Add complexity incrementally</a:t>
            </a:r>
            <a:endParaRPr sz="1100"/>
          </a:p>
          <a:p>
            <a:pPr indent="-19685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Validate Output Aggressively over common failure modes: malformed JSON, dropped tables with empty column lists, hallucination.</a:t>
            </a:r>
            <a:endParaRPr sz="1100"/>
          </a:p>
          <a:p>
            <a:pPr indent="-19685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Budget GPU Time Carefully - Debug on small runs first. Large failed runs waste compute quickly.</a:t>
            </a:r>
            <a:endParaRPr sz="1100"/>
          </a:p>
          <a:p>
            <a:pPr indent="-19685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Watch for Hallucinated Identifiers</a:t>
            </a:r>
            <a:endParaRPr sz="1100"/>
          </a:p>
          <a:p>
            <a:pPr indent="-19685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Post-processing and schema validation are highly recommended.</a:t>
            </a:r>
            <a:endParaRPr sz="1100"/>
          </a:p>
          <a:p>
            <a:pPr indent="-19685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Column-Level Prediction is Harder </a:t>
            </a:r>
            <a:endParaRPr sz="1100"/>
          </a:p>
          <a:p>
            <a:pPr indent="-19685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Prompt formatting and schema serialization matter significantly here.</a:t>
            </a:r>
            <a:endParaRPr sz="1100"/>
          </a:p>
          <a:p>
            <a:pPr indent="-196850" lvl="0" marL="228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Experiment Systematically: Use RapidFire intentionally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 sz="1300"/>
              <a:t>The goal is engineering judgment, not random hyperparameter search.</a:t>
            </a:r>
            <a:endParaRPr sz="13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9843" y="286172"/>
            <a:ext cx="2009774" cy="382258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56"/>
          <p:cNvSpPr txBox="1"/>
          <p:nvPr>
            <p:ph idx="4294967295" type="ctrTitle"/>
          </p:nvPr>
        </p:nvSpPr>
        <p:spPr>
          <a:xfrm>
            <a:off x="457200" y="1057275"/>
            <a:ext cx="8229600" cy="3371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Teko SemiBold"/>
              <a:buNone/>
            </a:pPr>
            <a:r>
              <a:rPr b="1" i="0" lang="en" sz="6000" u="none" cap="none" strike="noStrike">
                <a:solidFill>
                  <a:srgbClr val="FFFFFF"/>
                </a:solidFill>
                <a:latin typeface="Teko SemiBold"/>
                <a:ea typeface="Teko SemiBold"/>
                <a:cs typeface="Teko SemiBold"/>
                <a:sym typeface="Teko SemiBold"/>
              </a:rPr>
              <a:t>Thank you!</a:t>
            </a:r>
            <a:endParaRPr b="1" i="0" sz="6000" u="none" cap="none" strike="noStrike">
              <a:solidFill>
                <a:srgbClr val="FFFFFF"/>
              </a:solidFill>
              <a:latin typeface="Teko SemiBold"/>
              <a:ea typeface="Teko SemiBold"/>
              <a:cs typeface="Teko SemiBold"/>
              <a:sym typeface="Teko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ue and Gold">
  <a:themeElements>
    <a:clrScheme name="Blue &amp; Gold">
      <a:dk1>
        <a:srgbClr val="182B48"/>
      </a:dk1>
      <a:lt1>
        <a:srgbClr val="FFCC00"/>
      </a:lt1>
      <a:dk2>
        <a:srgbClr val="182B48"/>
      </a:dk2>
      <a:lt2>
        <a:srgbClr val="FEFFFF"/>
      </a:lt2>
      <a:accent1>
        <a:srgbClr val="00629B"/>
      </a:accent1>
      <a:accent2>
        <a:srgbClr val="FFCC00"/>
      </a:accent2>
      <a:accent3>
        <a:srgbClr val="182B48"/>
      </a:accent3>
      <a:accent4>
        <a:srgbClr val="C59114"/>
      </a:accent4>
      <a:accent5>
        <a:srgbClr val="747578"/>
      </a:accent5>
      <a:accent6>
        <a:srgbClr val="FFCC00"/>
      </a:accent6>
      <a:hlink>
        <a:srgbClr val="00629B"/>
      </a:hlink>
      <a:folHlink>
        <a:srgbClr val="7475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